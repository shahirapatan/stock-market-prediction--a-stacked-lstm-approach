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6" r:id="rId22"/>
    <p:sldId id="278" r:id="rId23"/>
    <p:sldId id="288" r:id="rId24"/>
    <p:sldId id="279" r:id="rId25"/>
    <p:sldId id="280" r:id="rId26"/>
    <p:sldId id="281" r:id="rId27"/>
    <p:sldId id="282" r:id="rId28"/>
    <p:sldId id="283" r:id="rId29"/>
    <p:sldId id="28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79800D-353D-47DB-8870-8500DFF22B6D}">
          <p14:sldIdLst>
            <p14:sldId id="256"/>
          </p14:sldIdLst>
        </p14:section>
        <p14:section name="Untitled Section" id="{87194E7D-A0DF-45A6-A04D-5B7B44E32C71}">
          <p14:sldIdLst>
            <p14:sldId id="257"/>
            <p14:sldId id="260"/>
            <p14:sldId id="258"/>
            <p14:sldId id="259"/>
            <p14:sldId id="261"/>
            <p14:sldId id="262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Untitled Section" id="{B62922DE-D74B-47C1-85D3-C6191A3AEE75}">
          <p14:sldIdLst>
            <p14:sldId id="276"/>
            <p14:sldId id="277"/>
            <p14:sldId id="286"/>
            <p14:sldId id="278"/>
            <p14:sldId id="288"/>
            <p14:sldId id="279"/>
            <p14:sldId id="280"/>
            <p14:sldId id="281"/>
            <p14:sldId id="282"/>
            <p14:sldId id="283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86496-FC94-4793-9564-A334C2289FE6}" v="3" dt="2026-04-12T11:55:50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69ADDD-D69C-43B9-9CAD-99F020F12BB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B24A6-2B52-4E3A-8D46-02F391924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18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Under the Guidance of: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B24A6-2B52-4E3A-8D46-02F391924B4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12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EE742-7302-EEAE-D8B2-6D7560854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BCBD6-20C7-161E-FB56-DC08E0D31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07A11-F5BC-D064-6392-1D33E9D5C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446BD-10FB-90D9-6B05-4DBF5DAA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677AB-E8C5-5ABB-BC5D-CCC82566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047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11AD-6430-3F27-1503-BF8506DA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7ED43-F300-816A-8CA7-1CE04B779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96DE4-A843-5BB7-8672-D9FA4840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D7DA5-82C4-8EBF-BDFA-35EEF630B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9D9DD-59ED-7A4F-FCA7-DF5BF5234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92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DCBA0-9039-E9A7-4046-920F45112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B35A4-7885-05C2-1976-B49490950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209E6-7CA1-5A24-DD1F-3580D5D02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A2A4C-5212-55B3-92F2-2EE85A3E0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A6E5F-247F-CC54-D5B3-B6462881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13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E6D8-03CC-232A-EEFE-24E68FC0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2DF0C-56B8-1DD9-8BF7-1D9DBA251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08C07-74B5-D61F-48A6-F6342B08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E9D74-8576-2798-6A14-BB65D43E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499C1-7EA3-23A7-BB80-CDB48A83D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BB5D4-CF4A-027D-AD7C-C66BEC47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67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DBC8-DC50-BBD7-746E-5390D275C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2B142-379C-DD3D-DD3B-54A50E973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224F1-519E-362D-8C20-2A983D42A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EF10D-F599-64C4-6936-1998B6CDB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6BAF39-37EC-878B-4957-AC1D9CC1C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EB093A-96DA-0345-1C80-2C5AAFA0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467E3-7221-AED7-3C65-DB146EA9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1ECEB7-0A67-FCAC-A1B5-446E605A4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892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A560-FA30-3681-FC91-6E655753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495E9-5F0B-306E-A12A-82775CF7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4F6D4-A55B-0F52-AE48-E3452B805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84A7B-EF56-ED3F-538E-E87A7FBE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99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D4882-12B9-40AD-0E2C-314145DC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DABBE-D4C1-406D-E4A3-28ABA6D0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05C3F-BBFF-C953-C531-F4DBF002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450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B50CC-A0A5-6BC8-DBC3-FC98F9E9E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63B79-B6D5-3C91-39F4-4E766F035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1E208-4E4A-65DE-19EE-1D49560E6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68502-9A15-F6C4-1BDE-A461B55C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2F6D5-720F-AFC2-0436-D58687F7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94BB-DFCF-09D7-E569-6D1F3E70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61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432D1-3F47-2635-A3DF-FF54BDB8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20801A-096C-E7E8-EB09-B347261E2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B1AB4-D52D-6A6F-53F5-831AD623B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E9554-2BF2-765B-8667-851FCAA6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07ADC-6606-E8FE-F312-2D2E7ACAB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AC242-C52B-1BCD-4B69-50D9004A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07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7CEC1-2B8E-E979-09FE-4D230684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22BD0-FAFF-4793-3DBE-DB7252C37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EAD95-9828-7F6C-A3A5-45433F1A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21737-F6D5-416B-DE58-E5090C7D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D4A6F-119A-DA0A-D87E-1A40A7A9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8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6B356-48F2-C700-CACC-8AB09142A6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B5847-5727-CFDD-0791-B01B45596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05967-9DEF-7106-92E8-C84BFC97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25991-ACD3-8782-BC04-2587B7E97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60346-DE41-1FC6-4E25-7987202C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06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824AE-FADE-6E86-ACF6-7A7707EBF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B8732-0F69-B54D-84FE-2B1236648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9814F-C598-C0EE-621B-712A8727A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0F978-C350-4ED4-8D31-DAD382115D49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2F05E-9B46-753A-13D3-BBFCB80CF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B0F90-44E2-835E-8EEB-C4E79F198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BDC44-6FD3-4601-9882-0DD54538C4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05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numpy.org/doc" TargetMode="External"/><Relationship Id="rId3" Type="http://schemas.openxmlformats.org/officeDocument/2006/relationships/hyperlink" Target="https://keras.io/" TargetMode="External"/><Relationship Id="rId7" Type="http://schemas.openxmlformats.org/officeDocument/2006/relationships/hyperlink" Target="https://pandas.pydata.org/docs/" TargetMode="External"/><Relationship Id="rId2" Type="http://schemas.openxmlformats.org/officeDocument/2006/relationships/hyperlink" Target="https://www.tensorflow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otly.com/python/" TargetMode="External"/><Relationship Id="rId5" Type="http://schemas.openxmlformats.org/officeDocument/2006/relationships/hyperlink" Target="https://pypi.org/project/yfinance/" TargetMode="External"/><Relationship Id="rId4" Type="http://schemas.openxmlformats.org/officeDocument/2006/relationships/hyperlink" Target="https://docs.streamlit.io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90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974FA7-05D8-ABE9-78DE-B66FCDD8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036" y="2034073"/>
            <a:ext cx="3918857" cy="2901820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AI BASED STOCK MARKET PREDICTION USING A STCOKED LSTM</a:t>
            </a:r>
            <a:br>
              <a:rPr lang="en-IN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endParaRPr lang="en-IN" sz="2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6EFB43-1DD7-771B-511B-005231C0D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029200"/>
            <a:ext cx="5181600" cy="1614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</a:rPr>
              <a:t>Under the Guidance of</a:t>
            </a:r>
            <a:r>
              <a:rPr lang="en-IN" sz="1600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IN" sz="1800" dirty="0"/>
              <a:t>  </a:t>
            </a:r>
            <a:r>
              <a:rPr lang="en-IN" sz="1600" dirty="0">
                <a:solidFill>
                  <a:srgbClr val="00B0F0"/>
                </a:solidFill>
              </a:rPr>
              <a:t>MS. S. SWETHA, (M .Tech)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F0"/>
                </a:solidFill>
              </a:rPr>
              <a:t>  </a:t>
            </a:r>
            <a:r>
              <a:rPr lang="en-IN" sz="1600" dirty="0">
                <a:solidFill>
                  <a:srgbClr val="00B0F0"/>
                </a:solidFill>
              </a:rPr>
              <a:t>ASSISTANT PROFESSOR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661B9-019D-18C2-C996-D80DE7E08073}"/>
              </a:ext>
            </a:extLst>
          </p:cNvPr>
          <p:cNvSpPr txBox="1"/>
          <p:nvPr/>
        </p:nvSpPr>
        <p:spPr>
          <a:xfrm flipH="1">
            <a:off x="6969966" y="4758612"/>
            <a:ext cx="48239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/>
              <a:t>           </a:t>
            </a:r>
            <a:r>
              <a:rPr lang="en-IN" sz="2400" dirty="0">
                <a:solidFill>
                  <a:srgbClr val="FF0000"/>
                </a:solidFill>
              </a:rPr>
              <a:t>TEAM MEMBERS: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1800" dirty="0">
                <a:solidFill>
                  <a:srgbClr val="00B0F0"/>
                </a:solidFill>
              </a:rPr>
              <a:t>P.  SHAHIRA              (223H1A3910)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F0"/>
                </a:solidFill>
              </a:rPr>
              <a:t>           A. NANDINI               (223H1A3901)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F0"/>
                </a:solidFill>
              </a:rPr>
              <a:t>           M.  ZAIBAKHANAM(223H1A3907)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F0"/>
                </a:solidFill>
              </a:rPr>
              <a:t>           K. VARA LAKSHMI  (223H1A3905)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B0F0"/>
                </a:solidFill>
              </a:rPr>
              <a:t>           S. AFIFA FATHIMA  (223H1A3911)             </a:t>
            </a:r>
            <a:endParaRPr lang="en-IN" dirty="0">
              <a:solidFill>
                <a:srgbClr val="00B0F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2D314A-ADD6-6B82-E9BE-658D51767D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18251"/>
            <a:ext cx="5181600" cy="3340361"/>
          </a:xfrm>
          <a:prstGeom prst="rect">
            <a:avLst/>
          </a:prstGeom>
        </p:spPr>
      </p:pic>
      <p:pic>
        <p:nvPicPr>
          <p:cNvPr id="2" name="Picture 1" descr="KLM College of Engineering for Women ::">
            <a:extLst>
              <a:ext uri="{FF2B5EF4-FFF2-40B4-BE49-F238E27FC236}">
                <a16:creationId xmlns:a16="http://schemas.microsoft.com/office/drawing/2014/main" id="{19694684-3309-70ED-6EC1-E46FF260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1859208" cy="132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379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7D7FB-5CBB-5308-C556-9ED1AEB0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4923" y="746353"/>
            <a:ext cx="3032449" cy="5226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7EBD6-D992-50E3-42EC-E3B7D48F9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313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Uses Artificial Intelligence to analyze stock market data </a:t>
            </a:r>
          </a:p>
          <a:p>
            <a:r>
              <a:rPr lang="en-US" dirty="0"/>
              <a:t>LSTM model is used for time-series prediction </a:t>
            </a:r>
          </a:p>
          <a:p>
            <a:r>
              <a:rPr lang="en-US" dirty="0"/>
              <a:t>Learns from historical stock price data </a:t>
            </a:r>
          </a:p>
          <a:p>
            <a:r>
              <a:rPr lang="en-US" dirty="0"/>
              <a:t>Identifies patterns and trends in the market </a:t>
            </a:r>
          </a:p>
          <a:p>
            <a:r>
              <a:rPr lang="en-US" dirty="0"/>
              <a:t>Predicts future stock prices with better accuracy </a:t>
            </a:r>
          </a:p>
          <a:p>
            <a:r>
              <a:rPr lang="en-US" dirty="0"/>
              <a:t>Works for global equity markets </a:t>
            </a:r>
          </a:p>
          <a:p>
            <a:r>
              <a:rPr lang="en-US" dirty="0"/>
              <a:t>Helps investors make better decisions </a:t>
            </a:r>
          </a:p>
          <a:p>
            <a:r>
              <a:rPr lang="en-US" dirty="0"/>
              <a:t>Reduces risk compared to traditional methods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76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A109-C06B-1E76-9772-886649BF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1658" y="158621"/>
            <a:ext cx="3564294" cy="1017036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12EF-E254-9ADA-37AC-B2622BD42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269"/>
            <a:ext cx="10515600" cy="4422711"/>
          </a:xfrm>
        </p:spPr>
        <p:txBody>
          <a:bodyPr>
            <a:normAutofit/>
          </a:bodyPr>
          <a:lstStyle/>
          <a:p>
            <a:r>
              <a:rPr lang="en-US" sz="2600" dirty="0"/>
              <a:t>Traditional systems use </a:t>
            </a:r>
            <a:r>
              <a:rPr lang="en-US" sz="2600" b="1" dirty="0"/>
              <a:t>fundamental and technical analysis</a:t>
            </a:r>
            <a:r>
              <a:rPr lang="en-US" sz="2600" dirty="0"/>
              <a:t> </a:t>
            </a:r>
          </a:p>
          <a:p>
            <a:r>
              <a:rPr lang="en-US" sz="2600" dirty="0"/>
              <a:t>Investors must </a:t>
            </a:r>
            <a:r>
              <a:rPr lang="en-US" sz="2600" b="1" dirty="0"/>
              <a:t>manually analyze charts and financial data</a:t>
            </a:r>
            <a:r>
              <a:rPr lang="en-US" sz="2600" dirty="0"/>
              <a:t> </a:t>
            </a:r>
          </a:p>
          <a:p>
            <a:r>
              <a:rPr lang="en-US" sz="2600" dirty="0"/>
              <a:t>Process is </a:t>
            </a:r>
            <a:r>
              <a:rPr lang="en-US" sz="2600" b="1" dirty="0"/>
              <a:t>time-consuming</a:t>
            </a:r>
            <a:r>
              <a:rPr lang="en-US" sz="2600" dirty="0"/>
              <a:t> </a:t>
            </a:r>
          </a:p>
          <a:p>
            <a:r>
              <a:rPr lang="en-US" sz="2600" dirty="0"/>
              <a:t>Requires </a:t>
            </a:r>
            <a:r>
              <a:rPr lang="en-US" sz="2600" b="1" dirty="0"/>
              <a:t>expert knowledge</a:t>
            </a:r>
            <a:r>
              <a:rPr lang="en-US" sz="2600" dirty="0"/>
              <a:t> to understand market trends </a:t>
            </a:r>
          </a:p>
          <a:p>
            <a:r>
              <a:rPr lang="en-US" sz="2600" dirty="0"/>
              <a:t>Most platforms offer only </a:t>
            </a:r>
            <a:r>
              <a:rPr lang="en-US" sz="2600" b="1" dirty="0"/>
              <a:t>basic visualization tools</a:t>
            </a:r>
            <a:r>
              <a:rPr lang="en-US" sz="2600" dirty="0"/>
              <a:t> </a:t>
            </a:r>
          </a:p>
          <a:p>
            <a:r>
              <a:rPr lang="en-US" sz="2600" dirty="0"/>
              <a:t>Lack of </a:t>
            </a:r>
            <a:r>
              <a:rPr lang="en-US" sz="2600" b="1" dirty="0"/>
              <a:t>advanced prediction techniques</a:t>
            </a:r>
            <a:r>
              <a:rPr lang="en-US" sz="2600" dirty="0"/>
              <a:t> </a:t>
            </a:r>
          </a:p>
          <a:p>
            <a:r>
              <a:rPr lang="en-US" sz="2600" dirty="0"/>
              <a:t>Cannot efficiently handle </a:t>
            </a:r>
            <a:r>
              <a:rPr lang="en-US" sz="2600" b="1" dirty="0"/>
              <a:t>large and real-time data</a:t>
            </a:r>
            <a:r>
              <a:rPr lang="en-US" sz="2600" dirty="0"/>
              <a:t> </a:t>
            </a:r>
          </a:p>
          <a:p>
            <a:r>
              <a:rPr lang="en-US" sz="2600" dirty="0"/>
              <a:t>Do not use modern technologies like </a:t>
            </a:r>
            <a:r>
              <a:rPr lang="en-US" sz="2600" b="1" dirty="0"/>
              <a:t>AI and Machine Learning</a:t>
            </a:r>
            <a:r>
              <a:rPr lang="en-US" sz="2600" dirty="0"/>
              <a:t> </a:t>
            </a:r>
          </a:p>
          <a:p>
            <a:r>
              <a:rPr lang="en-US" sz="2600" dirty="0"/>
              <a:t>Leads to </a:t>
            </a:r>
            <a:r>
              <a:rPr lang="en-US" sz="2600" b="1" dirty="0"/>
              <a:t>inaccurate predictions and poor investment decisions</a:t>
            </a:r>
            <a:r>
              <a:rPr lang="en-US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867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12CFB-84DF-A4B5-9A94-04DC8DCD1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380" y="690369"/>
            <a:ext cx="7445827" cy="49462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DISADVANTAGES OF 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383FB-4370-6253-E3AD-9432E6335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22676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/>
              <a:t>1</a:t>
            </a: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Time-Consuming Process</a:t>
            </a:r>
            <a:br>
              <a:rPr lang="en-US" sz="7200" dirty="0"/>
            </a:br>
            <a:r>
              <a:rPr lang="en-US" sz="7200" dirty="0"/>
              <a:t>    Requires manual analysis of stock data and charts, making it slow and inefficient. </a:t>
            </a:r>
          </a:p>
          <a:p>
            <a:pPr marL="0" indent="0">
              <a:buNone/>
            </a:pPr>
            <a:r>
              <a:rPr lang="en-US" sz="7200" b="1" dirty="0"/>
              <a:t>2. </a:t>
            </a: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Requires Expert Knowledge</a:t>
            </a:r>
            <a:br>
              <a:rPr lang="en-US" sz="7200" dirty="0"/>
            </a:br>
            <a:r>
              <a:rPr lang="en-US" sz="7200" dirty="0"/>
              <a:t>    Users need strong financial understanding to interpret market trends correctly. </a:t>
            </a:r>
          </a:p>
          <a:p>
            <a:pPr marL="0" indent="0">
              <a:buNone/>
            </a:pPr>
            <a:r>
              <a:rPr lang="en-US" sz="7200" b="1" dirty="0"/>
              <a:t>3. </a:t>
            </a: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Human Errors</a:t>
            </a:r>
            <a:br>
              <a:rPr lang="en-US" sz="7200" dirty="0"/>
            </a:br>
            <a:r>
              <a:rPr lang="en-US" sz="7200" dirty="0"/>
              <a:t>    Manual work can lead to mistakes and wrong investment decisions. </a:t>
            </a:r>
          </a:p>
          <a:p>
            <a:pPr marL="0" indent="0">
              <a:buNone/>
            </a:pPr>
            <a:r>
              <a:rPr lang="en-US" sz="7200" b="1" dirty="0"/>
              <a:t>4. </a:t>
            </a: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Low Prediction Accuracy</a:t>
            </a:r>
            <a:br>
              <a:rPr lang="en-US" sz="7200" dirty="0"/>
            </a:br>
            <a:r>
              <a:rPr lang="en-US" sz="7200" dirty="0"/>
              <a:t>    Does not provide reliable future predictions based on data patterns. </a:t>
            </a:r>
          </a:p>
          <a:p>
            <a:pPr marL="0" indent="0">
              <a:buNone/>
            </a:pPr>
            <a:r>
              <a:rPr lang="en-US" sz="7200" b="1" dirty="0"/>
              <a:t>5. </a:t>
            </a: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Limited Use of Modern Technology</a:t>
            </a:r>
            <a:br>
              <a:rPr lang="en-US" sz="7200" dirty="0"/>
            </a:br>
            <a:r>
              <a:rPr lang="en-US" sz="7200" dirty="0"/>
              <a:t>    Lacks implementation of advanced technologies like AI and Machine Learning. </a:t>
            </a:r>
          </a:p>
          <a:p>
            <a:pPr marL="0" indent="0">
              <a:buNone/>
            </a:pPr>
            <a:r>
              <a:rPr lang="en-US" sz="7200" b="1" dirty="0"/>
              <a:t>6</a:t>
            </a: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Poor Handling of Big Data</a:t>
            </a:r>
            <a:br>
              <a:rPr lang="en-US" sz="7200" dirty="0"/>
            </a:br>
            <a:r>
              <a:rPr lang="en-US" sz="7200" dirty="0"/>
              <a:t>    Struggles to process large volumes of real-time market data efficiently. </a:t>
            </a:r>
          </a:p>
          <a:p>
            <a:pPr marL="0" indent="0">
              <a:buNone/>
            </a:pPr>
            <a:r>
              <a:rPr lang="en-US" sz="7200" b="1" dirty="0"/>
              <a:t>7. </a:t>
            </a: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 Automation</a:t>
            </a:r>
            <a:br>
              <a:rPr lang="en-US" sz="7200" dirty="0"/>
            </a:br>
            <a:r>
              <a:rPr lang="en-US" sz="7200" dirty="0"/>
              <a:t>   Decision-making is manual, which is not suitable for fast-moving markets. </a:t>
            </a:r>
          </a:p>
          <a:p>
            <a:pPr marL="0" indent="0">
              <a:buNone/>
            </a:pPr>
            <a:r>
              <a:rPr lang="en-US" sz="7200" b="1" dirty="0"/>
              <a:t>8. </a:t>
            </a:r>
            <a:r>
              <a:rPr lang="en-US" sz="7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Limited Insights</a:t>
            </a:r>
            <a:br>
              <a:rPr lang="en-US" sz="7200" dirty="0"/>
            </a:br>
            <a:r>
              <a:rPr lang="en-US" sz="7200" dirty="0"/>
              <a:t>    Provides only basic information, leading to less effective investment decisions. </a:t>
            </a:r>
          </a:p>
        </p:txBody>
      </p:sp>
    </p:spTree>
    <p:extLst>
      <p:ext uri="{BB962C8B-B14F-4D97-AF65-F5344CB8AC3E}">
        <p14:creationId xmlns:p14="http://schemas.microsoft.com/office/powerpoint/2010/main" val="153558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E799-D903-5161-E7A1-BA94D710B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2408" y="365126"/>
            <a:ext cx="3648271" cy="66124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E02E7-55A6-9266-B97F-366BFB182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642"/>
            <a:ext cx="10515600" cy="423609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sz="3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AI-Based System</a:t>
            </a:r>
            <a:br>
              <a:rPr lang="en-US" sz="3800" dirty="0"/>
            </a:br>
            <a:r>
              <a:rPr lang="en-US" sz="3800" dirty="0"/>
              <a:t>.    Uses Artificial Intelligence and Machine Learning for stock prediction and analysis. </a:t>
            </a:r>
          </a:p>
          <a:p>
            <a:pPr marL="0" indent="0">
              <a:buNone/>
            </a:pPr>
            <a:r>
              <a:rPr lang="en-US" sz="3800" b="1" dirty="0"/>
              <a:t>2. </a:t>
            </a:r>
            <a:r>
              <a:rPr lang="en-US" sz="3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LSTM Model</a:t>
            </a:r>
            <a:br>
              <a:rPr lang="en-US" sz="3800" dirty="0"/>
            </a:br>
            <a:r>
              <a:rPr lang="en-US" sz="3800" dirty="0"/>
              <a:t>.    Applies Long Short-Term Memory (LSTM) for analyzing time-series stock data. </a:t>
            </a:r>
          </a:p>
          <a:p>
            <a:pPr marL="0" indent="0">
              <a:buNone/>
            </a:pPr>
            <a:r>
              <a:rPr lang="en-US" sz="3800" b="1" dirty="0"/>
              <a:t>3. </a:t>
            </a:r>
            <a:r>
              <a:rPr lang="en-US" sz="3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Historical Data Analysis</a:t>
            </a:r>
            <a:br>
              <a:rPr lang="en-US" sz="3800" dirty="0"/>
            </a:br>
            <a:r>
              <a:rPr lang="en-US" sz="3800" dirty="0"/>
              <a:t>.    Learns patterns from past stock prices to predict future trends. </a:t>
            </a:r>
          </a:p>
          <a:p>
            <a:pPr marL="0" indent="0">
              <a:buNone/>
            </a:pPr>
            <a:r>
              <a:rPr lang="en-US" sz="3800" b="1" dirty="0"/>
              <a:t>4</a:t>
            </a:r>
            <a:r>
              <a:rPr lang="en-US" sz="3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Real-Time Data Collection</a:t>
            </a:r>
            <a:br>
              <a:rPr lang="en-US" sz="3800" dirty="0"/>
            </a:br>
            <a:r>
              <a:rPr lang="en-US" sz="3800" dirty="0"/>
              <a:t>.    Collects live stock data using APIs like </a:t>
            </a:r>
            <a:r>
              <a:rPr lang="en-US" sz="3800" dirty="0" err="1"/>
              <a:t>yahooFinance</a:t>
            </a:r>
            <a:r>
              <a:rPr lang="en-US" sz="3800" dirty="0"/>
              <a:t>. </a:t>
            </a:r>
          </a:p>
          <a:p>
            <a:pPr marL="0" indent="0">
              <a:buNone/>
            </a:pPr>
            <a:r>
              <a:rPr lang="en-US" sz="3800" b="1" dirty="0"/>
              <a:t>5. </a:t>
            </a:r>
            <a:r>
              <a:rPr lang="en-US" sz="3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Technical Indicators Used</a:t>
            </a:r>
            <a:br>
              <a:rPr lang="en-US" sz="3800" dirty="0"/>
            </a:br>
            <a:r>
              <a:rPr lang="en-US" sz="3800" dirty="0"/>
              <a:t>.    Uses indicators such as Moving Averages (MA20, MA50) and RSI for better analysis. </a:t>
            </a:r>
          </a:p>
          <a:p>
            <a:pPr marL="0" indent="0">
              <a:buNone/>
            </a:pPr>
            <a:r>
              <a:rPr lang="en-US" sz="3800" b="1" dirty="0"/>
              <a:t>6</a:t>
            </a:r>
            <a:r>
              <a:rPr lang="en-US" sz="3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Interactive Dashboard</a:t>
            </a:r>
            <a:br>
              <a:rPr lang="en-US" sz="3800" dirty="0"/>
            </a:br>
            <a:r>
              <a:rPr lang="en-US" sz="3800" dirty="0"/>
              <a:t>.    Built using </a:t>
            </a:r>
            <a:r>
              <a:rPr lang="en-US" sz="3800" dirty="0" err="1"/>
              <a:t>Streamlight</a:t>
            </a:r>
            <a:r>
              <a:rPr lang="en-US" sz="3800" dirty="0"/>
              <a:t> to display charts like candlestick graphs and prediction plots. </a:t>
            </a:r>
          </a:p>
          <a:p>
            <a:pPr marL="0" indent="0">
              <a:buNone/>
            </a:pPr>
            <a:r>
              <a:rPr lang="en-US" sz="3800" b="1" dirty="0"/>
              <a:t>7. </a:t>
            </a:r>
            <a:r>
              <a:rPr lang="en-US" sz="3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Automated Decision-Making</a:t>
            </a:r>
            <a:br>
              <a:rPr lang="en-US" sz="3800" dirty="0"/>
            </a:br>
            <a:r>
              <a:rPr lang="en-US" sz="3800" dirty="0"/>
              <a:t>.   Provides buy, sell, or hold suggestions based on analysis. </a:t>
            </a:r>
          </a:p>
          <a:p>
            <a:pPr marL="0" indent="0">
              <a:buNone/>
            </a:pPr>
            <a:r>
              <a:rPr lang="en-US" sz="3800" b="1" dirty="0"/>
              <a:t>8. </a:t>
            </a:r>
            <a:r>
              <a:rPr lang="en-US" sz="3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Performance Evaluation</a:t>
            </a:r>
            <a:br>
              <a:rPr lang="en-US" sz="3800" dirty="0"/>
            </a:br>
            <a:r>
              <a:rPr lang="en-US" sz="3800" dirty="0"/>
              <a:t>.   Measures accuracy using metrics like MAE and RMSE. </a:t>
            </a:r>
          </a:p>
          <a:p>
            <a:pPr marL="0" indent="0">
              <a:buNone/>
            </a:pPr>
            <a:r>
              <a:rPr lang="en-US" sz="3800" b="1" dirty="0"/>
              <a:t>9. </a:t>
            </a:r>
            <a:r>
              <a:rPr lang="en-US" sz="3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Short-Term Forecasting</a:t>
            </a:r>
            <a:br>
              <a:rPr lang="en-US" sz="3800" dirty="0"/>
            </a:br>
            <a:r>
              <a:rPr lang="en-US" sz="3800" dirty="0"/>
              <a:t>.    Generates a 7-day prediction to help in investment planning.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62A8C-8AAA-576B-6F62-A4877A041C90}"/>
              </a:ext>
            </a:extLst>
          </p:cNvPr>
          <p:cNvSpPr txBox="1"/>
          <p:nvPr/>
        </p:nvSpPr>
        <p:spPr>
          <a:xfrm>
            <a:off x="3048778" y="-23209061"/>
            <a:ext cx="60975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1680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ED1EA-096F-6E0E-9A4B-C5311FD8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050" y="709030"/>
            <a:ext cx="6186196" cy="699894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ADVANTAGES OF 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A1B9F-F7F3-A01D-26A3-BE7AF82D9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197"/>
            <a:ext cx="10515600" cy="390019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Gives </a:t>
            </a:r>
            <a:r>
              <a:rPr lang="en-US" b="1" dirty="0"/>
              <a:t>more accurate predictions</a:t>
            </a:r>
            <a:r>
              <a:rPr lang="en-US" dirty="0"/>
              <a:t> using AI and LSTM </a:t>
            </a:r>
          </a:p>
          <a:p>
            <a:r>
              <a:rPr lang="en-US" dirty="0"/>
              <a:t>Analyzes </a:t>
            </a:r>
            <a:r>
              <a:rPr lang="en-US" b="1" dirty="0"/>
              <a:t>large data quickly and efficiently</a:t>
            </a:r>
            <a:r>
              <a:rPr lang="en-US" dirty="0"/>
              <a:t> </a:t>
            </a:r>
          </a:p>
          <a:p>
            <a:r>
              <a:rPr lang="en-US" dirty="0"/>
              <a:t>Uses </a:t>
            </a:r>
            <a:r>
              <a:rPr lang="en-US" b="1" dirty="0"/>
              <a:t>advanced model (Stacked LSTM)</a:t>
            </a:r>
            <a:r>
              <a:rPr lang="en-US" dirty="0"/>
              <a:t> for better results </a:t>
            </a:r>
          </a:p>
          <a:p>
            <a:r>
              <a:rPr lang="en-US" b="1" dirty="0"/>
              <a:t>Automates</a:t>
            </a:r>
            <a:r>
              <a:rPr lang="en-US" dirty="0"/>
              <a:t> the entire process (no manual work needed) </a:t>
            </a:r>
          </a:p>
          <a:p>
            <a:r>
              <a:rPr lang="en-US" dirty="0"/>
              <a:t>Works with </a:t>
            </a:r>
            <a:r>
              <a:rPr lang="en-US" b="1" dirty="0"/>
              <a:t>real-time stock data</a:t>
            </a:r>
            <a:r>
              <a:rPr lang="en-US" dirty="0"/>
              <a:t> </a:t>
            </a:r>
          </a:p>
          <a:p>
            <a:r>
              <a:rPr lang="en-US" dirty="0"/>
              <a:t>Provides </a:t>
            </a:r>
            <a:r>
              <a:rPr lang="en-US" b="1" dirty="0"/>
              <a:t>buy, sell, hold suggestions</a:t>
            </a:r>
            <a:r>
              <a:rPr lang="en-US" dirty="0"/>
              <a:t> </a:t>
            </a:r>
          </a:p>
          <a:p>
            <a:r>
              <a:rPr lang="en-US" dirty="0"/>
              <a:t>Has a </a:t>
            </a:r>
            <a:r>
              <a:rPr lang="en-US" b="1" dirty="0"/>
              <a:t>simple and user-friendly dashboard</a:t>
            </a:r>
            <a:r>
              <a:rPr lang="en-US" dirty="0"/>
              <a:t> </a:t>
            </a:r>
          </a:p>
          <a:p>
            <a:r>
              <a:rPr lang="en-US" dirty="0"/>
              <a:t>Shows </a:t>
            </a:r>
            <a:r>
              <a:rPr lang="en-US" b="1" dirty="0"/>
              <a:t>clear visual charts</a:t>
            </a:r>
            <a:r>
              <a:rPr lang="en-US" dirty="0"/>
              <a:t> for easy understanding </a:t>
            </a:r>
          </a:p>
          <a:p>
            <a:r>
              <a:rPr lang="en-US" dirty="0"/>
              <a:t>Evaluates performance using </a:t>
            </a:r>
            <a:r>
              <a:rPr lang="en-US" b="1" dirty="0"/>
              <a:t>MAE and RMSE</a:t>
            </a:r>
            <a:r>
              <a:rPr lang="en-US" dirty="0"/>
              <a:t> </a:t>
            </a:r>
          </a:p>
          <a:p>
            <a:r>
              <a:rPr lang="en-US" dirty="0"/>
              <a:t>Gives </a:t>
            </a:r>
            <a:r>
              <a:rPr lang="en-US" b="1" dirty="0"/>
              <a:t>7-day future predictions</a:t>
            </a:r>
            <a:r>
              <a:rPr lang="en-US" dirty="0"/>
              <a:t> </a:t>
            </a:r>
          </a:p>
          <a:p>
            <a:r>
              <a:rPr lang="en-US" b="1" dirty="0"/>
              <a:t>Saves time</a:t>
            </a:r>
            <a:r>
              <a:rPr lang="en-US" dirty="0"/>
              <a:t> compared to manual analysis </a:t>
            </a:r>
          </a:p>
          <a:p>
            <a:r>
              <a:rPr lang="en-US" b="1" dirty="0"/>
              <a:t>Reduces human errors</a:t>
            </a:r>
            <a:r>
              <a:rPr lang="en-US" dirty="0"/>
              <a:t> and improves decisions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014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D309-0175-4E58-157C-975534CCB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899" y="681037"/>
            <a:ext cx="5234472" cy="774539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7F3276-AF3D-FCB4-6404-9B50094BF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695" y="1455576"/>
            <a:ext cx="6074228" cy="531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06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7586-7DE2-1A5E-1147-2A17D46C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767" y="365125"/>
            <a:ext cx="5990254" cy="1325563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SOFTWARE REQUIREMENTS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D29760-0FF3-0953-14C6-C8244F73A8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9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Programming Language</a:t>
            </a:r>
            <a:r>
              <a:rPr lang="en-US" sz="2900" b="1" dirty="0"/>
              <a:t>:</a:t>
            </a:r>
            <a:r>
              <a:rPr lang="en-US" sz="2900" dirty="0"/>
              <a:t> Python is used to develop the system </a:t>
            </a:r>
          </a:p>
          <a:p>
            <a:r>
              <a:rPr lang="en-US" sz="29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Framework</a:t>
            </a:r>
            <a:r>
              <a:rPr lang="en-US" sz="2900" b="1" dirty="0"/>
              <a:t>:</a:t>
            </a:r>
            <a:r>
              <a:rPr lang="en-US" sz="2900" dirty="0"/>
              <a:t> </a:t>
            </a:r>
            <a:r>
              <a:rPr lang="en-US" sz="2900" dirty="0" err="1"/>
              <a:t>Streamlite</a:t>
            </a:r>
            <a:r>
              <a:rPr lang="en-US" sz="2900" dirty="0"/>
              <a:t> is used to build the user interface </a:t>
            </a:r>
          </a:p>
          <a:p>
            <a:r>
              <a:rPr lang="en-US" sz="29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Machine Learning Libraries</a:t>
            </a:r>
            <a:r>
              <a:rPr lang="en-US" sz="2900" b="1" dirty="0"/>
              <a:t>:</a:t>
            </a:r>
            <a:r>
              <a:rPr lang="en-US" sz="2900" dirty="0"/>
              <a:t> TensorFlow and </a:t>
            </a:r>
            <a:r>
              <a:rPr lang="en-US" sz="2900" dirty="0" err="1"/>
              <a:t>Keras</a:t>
            </a:r>
            <a:r>
              <a:rPr lang="en-US" sz="2900" dirty="0"/>
              <a:t> are used for model development </a:t>
            </a:r>
          </a:p>
          <a:p>
            <a:r>
              <a:rPr lang="en-US" sz="29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Data Handling Libraries</a:t>
            </a:r>
            <a:r>
              <a:rPr lang="en-US" sz="2900" b="1" dirty="0"/>
              <a:t>:</a:t>
            </a:r>
            <a:r>
              <a:rPr lang="en-US" sz="2900" dirty="0"/>
              <a:t> Pandas and NumPy are used for data processing </a:t>
            </a:r>
          </a:p>
          <a:p>
            <a:r>
              <a:rPr lang="en-US" sz="29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Visualization Tools</a:t>
            </a:r>
            <a:r>
              <a:rPr lang="en-US" sz="2900" b="1" dirty="0"/>
              <a:t>:</a:t>
            </a:r>
            <a:r>
              <a:rPr lang="en-US" sz="2900" dirty="0"/>
              <a:t> Matplotlib and Plotly are used for charts and graphs </a:t>
            </a:r>
          </a:p>
          <a:p>
            <a:r>
              <a:rPr lang="en-US" sz="29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Data Source API</a:t>
            </a:r>
            <a:r>
              <a:rPr lang="en-US" sz="2900" b="1" dirty="0"/>
              <a:t>:</a:t>
            </a:r>
            <a:r>
              <a:rPr lang="en-US" sz="2900" dirty="0"/>
              <a:t> </a:t>
            </a:r>
            <a:r>
              <a:rPr lang="en-US" sz="2900" dirty="0" err="1"/>
              <a:t>yahooFinance</a:t>
            </a:r>
            <a:r>
              <a:rPr lang="en-US" sz="2900" dirty="0"/>
              <a:t> is used to fetch stock data </a:t>
            </a:r>
          </a:p>
          <a:p>
            <a:r>
              <a:rPr lang="en-US" sz="29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Preprocessing Tool</a:t>
            </a:r>
            <a:r>
              <a:rPr lang="en-US" sz="2900" b="1" dirty="0"/>
              <a:t>:</a:t>
            </a:r>
            <a:r>
              <a:rPr lang="en-US" sz="2900" dirty="0"/>
              <a:t> </a:t>
            </a:r>
            <a:r>
              <a:rPr lang="en-US" sz="2900" dirty="0" err="1"/>
              <a:t>MinMaxScaler</a:t>
            </a:r>
            <a:r>
              <a:rPr lang="en-US" sz="2900" dirty="0"/>
              <a:t> is used for data normalization </a:t>
            </a:r>
          </a:p>
          <a:p>
            <a:r>
              <a:rPr lang="en-US" sz="29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Performance Metrics</a:t>
            </a:r>
            <a:r>
              <a:rPr lang="en-US" sz="2900" b="1" dirty="0"/>
              <a:t>:</a:t>
            </a:r>
            <a:r>
              <a:rPr lang="en-US" sz="2900" dirty="0"/>
              <a:t> MAE and RMSE are used to evaluate prediction accuracy </a:t>
            </a:r>
          </a:p>
          <a:p>
            <a:r>
              <a:rPr lang="en-US" sz="29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Platform Requirement</a:t>
            </a:r>
            <a:r>
              <a:rPr lang="en-US" sz="2900" b="1" dirty="0"/>
              <a:t>:</a:t>
            </a:r>
            <a:r>
              <a:rPr lang="en-US" sz="2900" dirty="0"/>
              <a:t> Works on Windows, Linux, or macOS with internet access </a:t>
            </a:r>
          </a:p>
          <a:p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F31BDC90-0BEC-04D4-E455-8562E4392B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390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0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A9E5-3F6F-3B89-8DB0-8B1CE3C59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838" y="298581"/>
            <a:ext cx="7053942" cy="1306284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B68C-9A04-0A29-0C7E-4D4A0C0F47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Processor (CPU):</a:t>
            </a:r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Minimum Intel i5 or equivalent for smooth processing </a:t>
            </a:r>
          </a:p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RAM</a:t>
            </a:r>
            <a:r>
              <a:rPr lang="en-IN" b="1" dirty="0"/>
              <a:t>:</a:t>
            </a:r>
            <a:r>
              <a:rPr lang="en-IN" dirty="0"/>
              <a:t> At least 8 GB (16 GB recommended for better performance) </a:t>
            </a:r>
          </a:p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Storage</a:t>
            </a:r>
            <a:r>
              <a:rPr lang="en-IN" b="1" dirty="0"/>
              <a:t>:</a:t>
            </a:r>
            <a:r>
              <a:rPr lang="en-IN" dirty="0"/>
              <a:t> Minimum 256 GB SSD for faster data access and storage </a:t>
            </a:r>
          </a:p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System Type</a:t>
            </a:r>
            <a:r>
              <a:rPr lang="en-IN" b="1" dirty="0"/>
              <a:t>:</a:t>
            </a:r>
            <a:r>
              <a:rPr lang="en-IN" dirty="0"/>
              <a:t> 64-bit operating system required </a:t>
            </a:r>
          </a:p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Display</a:t>
            </a:r>
            <a:r>
              <a:rPr lang="en-IN" b="1" dirty="0"/>
              <a:t>:</a:t>
            </a:r>
            <a:r>
              <a:rPr lang="en-IN" dirty="0"/>
              <a:t> Monitor with good resolution for data visualization </a:t>
            </a:r>
          </a:p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Internet Connection</a:t>
            </a:r>
            <a:r>
              <a:rPr lang="en-IN" b="1" dirty="0"/>
              <a:t>:</a:t>
            </a:r>
            <a:r>
              <a:rPr lang="en-IN" dirty="0"/>
              <a:t> Required for fetching real-time stock data (</a:t>
            </a:r>
            <a:r>
              <a:rPr lang="en-IN" dirty="0" err="1"/>
              <a:t>yFinance</a:t>
            </a:r>
            <a:r>
              <a:rPr lang="en-IN" dirty="0"/>
              <a:t> API) </a:t>
            </a:r>
          </a:p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Input Devices</a:t>
            </a:r>
            <a:r>
              <a:rPr lang="en-IN" b="1" dirty="0"/>
              <a:t>:</a:t>
            </a:r>
            <a:r>
              <a:rPr lang="en-IN" dirty="0"/>
              <a:t> Keyboard and mouse for user interaction </a:t>
            </a:r>
          </a:p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Power Supply</a:t>
            </a:r>
            <a:r>
              <a:rPr lang="en-IN" b="1" dirty="0"/>
              <a:t>:</a:t>
            </a:r>
            <a:r>
              <a:rPr lang="en-IN" dirty="0"/>
              <a:t> Reliable power source for continuous system operation 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7D1407E-35CE-5E24-3E77-F1D6CAB286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390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70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70511C-338F-CCCE-E11C-D945128D8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192" y="597159"/>
            <a:ext cx="3909526" cy="746449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SYSTEM DESIGN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BD03E3-EA5D-FC1F-34BF-586606019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876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Use Case Diagram</a:t>
            </a:r>
            <a:br>
              <a:rPr lang="en-US" dirty="0"/>
            </a:br>
            <a:r>
              <a:rPr lang="en-US" dirty="0"/>
              <a:t>Shows how the user interacts with the system.</a:t>
            </a:r>
            <a:br>
              <a:rPr lang="en-US" dirty="0"/>
            </a:br>
            <a:r>
              <a:rPr lang="en-US" dirty="0"/>
              <a:t>Example: Login, enter stock symbol, view data, get predictions. </a:t>
            </a:r>
          </a:p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Class Diagram</a:t>
            </a:r>
            <a:br>
              <a:rPr lang="en-US" dirty="0"/>
            </a:br>
            <a:r>
              <a:rPr lang="en-US" dirty="0"/>
              <a:t>Shows the structure of the system (classes, data, relationships).</a:t>
            </a:r>
            <a:br>
              <a:rPr lang="en-US" dirty="0"/>
            </a:br>
            <a:r>
              <a:rPr lang="en-US" dirty="0"/>
              <a:t>Helps understand how components are organized. </a:t>
            </a:r>
          </a:p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Sequence Diagram</a:t>
            </a:r>
            <a:br>
              <a:rPr lang="en-US" dirty="0"/>
            </a:br>
            <a:r>
              <a:rPr lang="en-US" dirty="0"/>
              <a:t>Shows step-by-step communication between system parts over time.</a:t>
            </a:r>
            <a:br>
              <a:rPr lang="en-US" dirty="0"/>
            </a:br>
            <a:r>
              <a:rPr lang="en-US" dirty="0"/>
              <a:t>Explains how requests move from user to system and back. </a:t>
            </a:r>
          </a:p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Activity Diagram</a:t>
            </a:r>
            <a:br>
              <a:rPr lang="en-US" dirty="0"/>
            </a:br>
            <a:r>
              <a:rPr lang="en-US" dirty="0"/>
              <a:t>Shows the workflow of the system from start to end.</a:t>
            </a:r>
            <a:br>
              <a:rPr lang="en-US" dirty="0"/>
            </a:br>
            <a:r>
              <a:rPr lang="en-US" dirty="0"/>
              <a:t>Example: Input → Processing → Output. </a:t>
            </a:r>
          </a:p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Deployment Diagram</a:t>
            </a:r>
            <a:br>
              <a:rPr lang="en-US" dirty="0"/>
            </a:br>
            <a:r>
              <a:rPr lang="en-US" dirty="0"/>
              <a:t>Shows where and how the system is installed (hardware &amp; software setup).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5921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B53C0-0E1D-A965-AB2D-70B285F7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102" y="1530220"/>
            <a:ext cx="8274698" cy="1203648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USE CASE DIAGRAM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F0D3D7D-F037-B973-630A-85977D9978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554" y="1825625"/>
            <a:ext cx="2900892" cy="4351338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2E71BE76-2D62-4463-A764-E9615337675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Enters stock ticker (like AAPL, TSLA)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Views stock data and charts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Gets AI-based predictions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Sees trading signals (Buy/Sell/Hold)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Downloads 7-day forecast </a:t>
            </a:r>
          </a:p>
        </p:txBody>
      </p:sp>
    </p:spTree>
    <p:extLst>
      <p:ext uri="{BB962C8B-B14F-4D97-AF65-F5344CB8AC3E}">
        <p14:creationId xmlns:p14="http://schemas.microsoft.com/office/powerpoint/2010/main" val="2704397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32A7-7A3D-8195-2DE3-130F87226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641" y="365126"/>
            <a:ext cx="4954555" cy="987814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Collaboration Diagram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7FF22-EC32-C719-1E21-B236E4460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04791"/>
          </a:xfrm>
        </p:spPr>
        <p:txBody>
          <a:bodyPr>
            <a:normAutofit fontScale="92500"/>
          </a:bodyPr>
          <a:lstStyle/>
          <a:p>
            <a:r>
              <a:rPr lang="en-IN" dirty="0"/>
              <a:t>User gives input through the app </a:t>
            </a:r>
          </a:p>
          <a:p>
            <a:r>
              <a:rPr lang="en-IN" dirty="0"/>
              <a:t>App sends data to system components </a:t>
            </a:r>
          </a:p>
          <a:p>
            <a:r>
              <a:rPr lang="en-IN" dirty="0" err="1"/>
              <a:t>RiskPredictor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indicators </a:t>
            </a:r>
          </a:p>
          <a:p>
            <a:r>
              <a:rPr lang="en-IN" dirty="0" err="1"/>
              <a:t>ModelTrainer</a:t>
            </a:r>
            <a:r>
              <a:rPr lang="en-IN" dirty="0"/>
              <a:t> trains LSTM model </a:t>
            </a:r>
          </a:p>
          <a:p>
            <a:r>
              <a:rPr lang="en-IN" dirty="0"/>
              <a:t>System processes and returns results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58D30FA-FC70-A9AC-8CDA-E7BEA8552D84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18041" y="1352940"/>
            <a:ext cx="4170785" cy="435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32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62B1-C34E-21D3-25FD-C2A8CFCA3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792" y="365126"/>
            <a:ext cx="3079101" cy="894508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System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869E5-6041-426B-1F23-8F2570274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1270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User opens app and logs in </a:t>
            </a:r>
          </a:p>
          <a:p>
            <a:r>
              <a:rPr lang="en-US" dirty="0"/>
              <a:t>Enters stock symbol </a:t>
            </a:r>
          </a:p>
          <a:p>
            <a:r>
              <a:rPr lang="en-US" dirty="0"/>
              <a:t>System collects data from </a:t>
            </a:r>
            <a:r>
              <a:rPr lang="en-US" dirty="0" err="1"/>
              <a:t>yFinance</a:t>
            </a:r>
            <a:r>
              <a:rPr lang="en-US" dirty="0"/>
              <a:t> </a:t>
            </a:r>
          </a:p>
          <a:p>
            <a:r>
              <a:rPr lang="en-US" dirty="0"/>
              <a:t>Data is processed and prepared </a:t>
            </a:r>
          </a:p>
          <a:p>
            <a:r>
              <a:rPr lang="en-US" dirty="0"/>
              <a:t>LSTM model predicts prices </a:t>
            </a:r>
          </a:p>
          <a:p>
            <a:r>
              <a:rPr lang="en-US" dirty="0"/>
              <a:t>System generates 7-day forecast (if needed) </a:t>
            </a:r>
          </a:p>
          <a:p>
            <a:r>
              <a:rPr lang="en-US" dirty="0"/>
              <a:t>Results and charts are shown 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693A4AF-9D62-FA5B-C2E2-D38504908E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43"/>
          <a:stretch>
            <a:fillRect/>
          </a:stretch>
        </p:blipFill>
        <p:spPr>
          <a:xfrm>
            <a:off x="6559420" y="1147665"/>
            <a:ext cx="4161453" cy="427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83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7475-F0AA-9E6A-617D-68C87A5C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1" y="365126"/>
            <a:ext cx="4049486" cy="894508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Sequence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9A6D4-627B-EA33-3693-D153039F6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22032"/>
          </a:xfrm>
        </p:spPr>
        <p:txBody>
          <a:bodyPr>
            <a:normAutofit fontScale="92500"/>
          </a:bodyPr>
          <a:lstStyle/>
          <a:p>
            <a:r>
              <a:rPr lang="en-IN" dirty="0"/>
              <a:t>User → Login → System verifies </a:t>
            </a:r>
          </a:p>
          <a:p>
            <a:r>
              <a:rPr lang="en-IN" dirty="0"/>
              <a:t>User enters stock → Data fetched </a:t>
            </a:r>
          </a:p>
          <a:p>
            <a:r>
              <a:rPr lang="en-IN" dirty="0"/>
              <a:t>Data is processed (scaling, indicators) </a:t>
            </a:r>
          </a:p>
          <a:p>
            <a:r>
              <a:rPr lang="en-IN" dirty="0"/>
              <a:t>LSTM model trains and predicts </a:t>
            </a:r>
          </a:p>
          <a:p>
            <a:r>
              <a:rPr lang="en-IN" dirty="0"/>
              <a:t>Results + accuracy (MAE, RMSE) calculated </a:t>
            </a:r>
          </a:p>
          <a:p>
            <a:r>
              <a:rPr lang="en-IN" dirty="0"/>
              <a:t>Charts and predictions displayed 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98F32B-36C4-5C61-2013-637244F0F8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28"/>
          <a:stretch>
            <a:fillRect/>
          </a:stretch>
        </p:blipFill>
        <p:spPr>
          <a:xfrm>
            <a:off x="6447453" y="1259634"/>
            <a:ext cx="4236098" cy="448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59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3243-2180-18D1-407E-471B9EEEF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354" y="365125"/>
            <a:ext cx="9142445" cy="1325563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Deployment Diagram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FC73C-DCC2-4075-06D7-77FACEE28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4988" y="1825625"/>
            <a:ext cx="4572000" cy="3950024"/>
          </a:xfrm>
        </p:spPr>
        <p:txBody>
          <a:bodyPr/>
          <a:lstStyle/>
          <a:p>
            <a:r>
              <a:rPr lang="en-IN" sz="2000" b="1" dirty="0"/>
              <a:t>User Device</a:t>
            </a:r>
            <a:r>
              <a:rPr lang="en-IN" sz="2000" dirty="0"/>
              <a:t> → Access through browser </a:t>
            </a:r>
          </a:p>
          <a:p>
            <a:r>
              <a:rPr lang="en-IN" sz="2000" b="1" dirty="0" err="1"/>
              <a:t>Streamlit</a:t>
            </a:r>
            <a:r>
              <a:rPr lang="en-IN" sz="2000" b="1" dirty="0"/>
              <a:t> Server</a:t>
            </a:r>
            <a:r>
              <a:rPr lang="en-IN" sz="2000" dirty="0"/>
              <a:t> → Runs the web app </a:t>
            </a:r>
          </a:p>
          <a:p>
            <a:r>
              <a:rPr lang="en-IN" sz="2000" b="1" dirty="0"/>
              <a:t>Model Server</a:t>
            </a:r>
            <a:r>
              <a:rPr lang="en-IN" sz="2000" dirty="0"/>
              <a:t> → Runs LSTM model </a:t>
            </a:r>
          </a:p>
          <a:p>
            <a:r>
              <a:rPr lang="en-IN" sz="2000" b="1" dirty="0" err="1"/>
              <a:t>yFinance</a:t>
            </a:r>
            <a:r>
              <a:rPr lang="en-IN" sz="2000" b="1" dirty="0"/>
              <a:t> API</a:t>
            </a:r>
            <a:r>
              <a:rPr lang="en-IN" sz="2000" dirty="0"/>
              <a:t> → Provides stock data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3CDE41-B255-C6A9-017D-E768D4AAD8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331" y="1623527"/>
            <a:ext cx="37975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90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524BF-73FA-ADD7-2A79-33F6742F9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045" y="1231640"/>
            <a:ext cx="2687216" cy="615821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    ALGORITHM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D6DFC1-4448-6C79-44FC-938DF3BBEC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6082" y="2112953"/>
            <a:ext cx="639059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Stacked LSTM Model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Multiple LSTM layers are used for better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Learns Time-Based Data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well for stock data because it learns patterns over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Remembers Past Information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Uses memory cells to store important past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Better than Normal Models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Performs better than traditional methods and simple neural networks.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. Handles Long-Term Patterns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Captures trends and dependencies in stock prices </a:t>
            </a:r>
          </a:p>
        </p:txBody>
      </p:sp>
    </p:spTree>
    <p:extLst>
      <p:ext uri="{BB962C8B-B14F-4D97-AF65-F5344CB8AC3E}">
        <p14:creationId xmlns:p14="http://schemas.microsoft.com/office/powerpoint/2010/main" val="3403858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63C2-6D29-83FF-D08A-340EA462F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796" y="365125"/>
            <a:ext cx="8368004" cy="1325563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                SOURCE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F139E-A451-0C51-8115-323E5411F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IN" dirty="0"/>
          </a:p>
          <a:p>
            <a:r>
              <a:rPr lang="en-IN" dirty="0"/>
              <a:t>from evaluation import </a:t>
            </a:r>
            <a:r>
              <a:rPr lang="en-IN" dirty="0" err="1"/>
              <a:t>evaluate_model</a:t>
            </a:r>
            <a:r>
              <a:rPr lang="en-IN" dirty="0"/>
              <a:t> </a:t>
            </a:r>
          </a:p>
          <a:p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st 	 </a:t>
            </a:r>
          </a:p>
          <a:p>
            <a:r>
              <a:rPr lang="en-IN" dirty="0"/>
              <a:t>import pandas as pd import </a:t>
            </a:r>
            <a:r>
              <a:rPr lang="en-IN" dirty="0" err="1"/>
              <a:t>numpy</a:t>
            </a:r>
            <a:r>
              <a:rPr lang="en-IN" dirty="0"/>
              <a:t> as np import </a:t>
            </a:r>
            <a:r>
              <a:rPr lang="en-IN" dirty="0" err="1"/>
              <a:t>yfinance</a:t>
            </a:r>
            <a:r>
              <a:rPr lang="en-IN" dirty="0"/>
              <a:t> as </a:t>
            </a:r>
            <a:r>
              <a:rPr lang="en-IN" dirty="0" err="1"/>
              <a:t>yf</a:t>
            </a:r>
            <a:r>
              <a:rPr lang="en-IN" dirty="0"/>
              <a:t> import </a:t>
            </a:r>
          </a:p>
          <a:p>
            <a:r>
              <a:rPr lang="en-IN" dirty="0" err="1"/>
              <a:t>plotly.graph_objects</a:t>
            </a:r>
            <a:r>
              <a:rPr lang="en-IN" dirty="0"/>
              <a:t> as go 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r>
              <a:rPr lang="en-IN" dirty="0"/>
              <a:t> from</a:t>
            </a:r>
          </a:p>
          <a:p>
            <a:r>
              <a:rPr lang="en-IN" dirty="0" err="1"/>
              <a:t>sklearn.preprocessing</a:t>
            </a:r>
            <a:r>
              <a:rPr lang="en-IN" dirty="0"/>
              <a:t> import </a:t>
            </a:r>
            <a:r>
              <a:rPr lang="en-IN" dirty="0" err="1"/>
              <a:t>MinMaxScaler</a:t>
            </a:r>
            <a:r>
              <a:rPr lang="en-IN" dirty="0"/>
              <a:t> from </a:t>
            </a:r>
            <a:r>
              <a:rPr lang="en-IN" dirty="0" err="1"/>
              <a:t>tensorflow.keras.models</a:t>
            </a:r>
            <a:r>
              <a:rPr lang="en-IN" dirty="0"/>
              <a:t> import Sequential from</a:t>
            </a:r>
          </a:p>
          <a:p>
            <a:r>
              <a:rPr lang="en-IN" dirty="0"/>
              <a:t> </a:t>
            </a:r>
            <a:r>
              <a:rPr lang="en-IN" dirty="0" err="1"/>
              <a:t>tensorflow.keras.layers</a:t>
            </a:r>
            <a:r>
              <a:rPr lang="en-IN" dirty="0"/>
              <a:t> import LSTM, Dense from </a:t>
            </a:r>
            <a:r>
              <a:rPr lang="en-IN" dirty="0" err="1"/>
              <a:t>streamlit_autorefresh</a:t>
            </a:r>
            <a:r>
              <a:rPr lang="en-IN" dirty="0"/>
              <a:t> import </a:t>
            </a:r>
            <a:r>
              <a:rPr lang="en-IN" dirty="0" err="1"/>
              <a:t>st_autorefresh</a:t>
            </a:r>
            <a:endParaRPr lang="en-IN" dirty="0"/>
          </a:p>
          <a:p>
            <a:r>
              <a:rPr lang="en-IN" dirty="0"/>
              <a:t> import </a:t>
            </a:r>
            <a:r>
              <a:rPr lang="en-IN" dirty="0" err="1"/>
              <a:t>os</a:t>
            </a:r>
            <a:r>
              <a:rPr lang="en-IN" dirty="0"/>
              <a:t> from evaluation import </a:t>
            </a:r>
            <a:r>
              <a:rPr lang="en-IN" dirty="0" err="1"/>
              <a:t>evaluate_model</a:t>
            </a:r>
            <a:r>
              <a:rPr lang="en-IN" dirty="0"/>
              <a:t>  # Make sure evaluation.py exists 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# ---------------- PAGE CONFIG ---------------- </a:t>
            </a:r>
            <a:r>
              <a:rPr lang="en-IN" dirty="0" err="1"/>
              <a:t>st.set_page_config</a:t>
            </a:r>
            <a:r>
              <a:rPr lang="en-IN" dirty="0"/>
              <a:t>(</a:t>
            </a:r>
            <a:r>
              <a:rPr lang="en-IN" dirty="0" err="1"/>
              <a:t>page_title</a:t>
            </a:r>
            <a:r>
              <a:rPr lang="en-IN" dirty="0"/>
              <a:t>="AI Stock Prediction", layout="wide") </a:t>
            </a:r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973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5854-2B36-B0B4-363A-08B0FE0F0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188" y="746448"/>
            <a:ext cx="3032449" cy="457201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  <a:r>
              <a:rPr lang="en-IN" sz="3100" dirty="0">
                <a:solidFill>
                  <a:srgbClr val="FF0000"/>
                </a:solidFill>
              </a:rPr>
              <a:t>Screenshots</a:t>
            </a:r>
            <a:r>
              <a:rPr lang="en-IN" sz="2800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5E5153-C6B5-E1BE-0B02-79522F07FDF2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rcRect t="15676" b="26143"/>
          <a:stretch>
            <a:fillRect/>
          </a:stretch>
        </p:blipFill>
        <p:spPr>
          <a:xfrm>
            <a:off x="1046480" y="1203650"/>
            <a:ext cx="4826000" cy="5420670"/>
          </a:xfrm>
          <a:prstGeom prst="rect">
            <a:avLst/>
          </a:prstGeom>
          <a:ln>
            <a:solidFill>
              <a:srgbClr val="FFFFFF"/>
            </a:solidFill>
          </a:ln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F883F4-A000-FDB7-CABB-1EFE6C9AE6AC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/>
          <a:srcRect t="9648" b="15639"/>
          <a:stretch>
            <a:fillRect/>
          </a:stretch>
        </p:blipFill>
        <p:spPr>
          <a:xfrm>
            <a:off x="5872480" y="2082800"/>
            <a:ext cx="5481320" cy="418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81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A6749E-0B88-C080-48AE-DD84C9387CBB}"/>
              </a:ext>
            </a:extLst>
          </p:cNvPr>
          <p:cNvPicPr/>
          <p:nvPr/>
        </p:nvPicPr>
        <p:blipFill>
          <a:blip r:embed="rId2"/>
          <a:srcRect t="7365" b="4973"/>
          <a:stretch>
            <a:fillRect/>
          </a:stretch>
        </p:blipFill>
        <p:spPr>
          <a:xfrm>
            <a:off x="812801" y="1209039"/>
            <a:ext cx="4765040" cy="4137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243547-004A-A843-64D4-94BBE4DEF345}"/>
              </a:ext>
            </a:extLst>
          </p:cNvPr>
          <p:cNvPicPr/>
          <p:nvPr/>
        </p:nvPicPr>
        <p:blipFill>
          <a:blip r:embed="rId3"/>
          <a:srcRect t="6169" b="6169"/>
          <a:stretch>
            <a:fillRect/>
          </a:stretch>
        </p:blipFill>
        <p:spPr>
          <a:xfrm>
            <a:off x="6096000" y="1209039"/>
            <a:ext cx="5923280" cy="398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19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12A71F-9BD0-A943-1B41-C0209DDAE0FC}"/>
              </a:ext>
            </a:extLst>
          </p:cNvPr>
          <p:cNvPicPr/>
          <p:nvPr/>
        </p:nvPicPr>
        <p:blipFill>
          <a:blip r:embed="rId2"/>
          <a:srcRect t="39044" b="38245"/>
          <a:stretch>
            <a:fillRect/>
          </a:stretch>
        </p:blipFill>
        <p:spPr>
          <a:xfrm>
            <a:off x="1884784" y="1087119"/>
            <a:ext cx="7665616" cy="452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17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021F-BC31-773B-EFD5-F61D180F0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                                           SIMPLE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6F55B-13EA-A62B-3CCB-499FA17BE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              </a:t>
            </a:r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Unit Testing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Tests each component separately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Checks data fetching from yahoo Finance API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Verifies data scaling using Min Max Scaler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Ensures correct creation of 60-step sequences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Validates technical indicators (MA20, MA50, RSI)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Checks LSTM prediction output format and accuracy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97D3C-FA13-6FC2-4533-45C328D394C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229475" y="1747838"/>
            <a:ext cx="4962525" cy="4429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 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916919E-9F95-4E45-5918-6D524316E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8929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667F37-C7DC-8820-D7DF-71F4681A37AD}"/>
              </a:ext>
            </a:extLst>
          </p:cNvPr>
          <p:cNvSpPr txBox="1"/>
          <p:nvPr/>
        </p:nvSpPr>
        <p:spPr>
          <a:xfrm>
            <a:off x="2556588" y="559837"/>
            <a:ext cx="658974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       </a:t>
            </a:r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Model Integration Testing</a:t>
            </a:r>
          </a:p>
          <a:p>
            <a:pPr marL="0" indent="0">
              <a:buNone/>
            </a:pP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Verifies complete flow from input to prediction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Checks API data is correctly processed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Ensures LSTM Tests how all modules work together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TM predictions are properly displayed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Validates MAE, RMSE, and accuracy calculations </a:t>
            </a:r>
          </a:p>
        </p:txBody>
      </p:sp>
    </p:spTree>
    <p:extLst>
      <p:ext uri="{BB962C8B-B14F-4D97-AF65-F5344CB8AC3E}">
        <p14:creationId xmlns:p14="http://schemas.microsoft.com/office/powerpoint/2010/main" val="182503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B8DA-E126-743B-F643-97ECEF76A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7722" y="365125"/>
            <a:ext cx="5520198" cy="843915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Manual UI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28BD4-F7C8-6E7C-D082-7456CEF34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560" y="1825625"/>
            <a:ext cx="8905240" cy="3416935"/>
          </a:xfrm>
        </p:spPr>
        <p:txBody>
          <a:bodyPr/>
          <a:lstStyle/>
          <a:p>
            <a:r>
              <a:rPr lang="en-US" sz="2000" dirty="0"/>
              <a:t>Checks login and registration functionality </a:t>
            </a:r>
          </a:p>
          <a:p>
            <a:r>
              <a:rPr lang="en-US" sz="2000" dirty="0"/>
              <a:t>Tests valid and invalid stock ticker inputs </a:t>
            </a:r>
          </a:p>
          <a:p>
            <a:r>
              <a:rPr lang="en-US" sz="2000" dirty="0"/>
              <a:t>Verifies charts (candlestick, graphs) display correctly </a:t>
            </a:r>
          </a:p>
          <a:p>
            <a:r>
              <a:rPr lang="en-US" sz="2000" dirty="0"/>
              <a:t>Ensures forecast CSV download works properly </a:t>
            </a:r>
          </a:p>
          <a:p>
            <a:r>
              <a:rPr lang="en-US" sz="2000" dirty="0"/>
              <a:t>Confirms dashboard works on different screen sizes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802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4063-E291-9079-7968-ECA9B84C1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3078" y="681036"/>
            <a:ext cx="4070842" cy="970481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          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99B75-41A3-0A3E-25E6-A3896F2DE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. The system is successfully developed using </a:t>
            </a:r>
            <a:r>
              <a:rPr lang="en-US" sz="2400" b="1" dirty="0"/>
              <a:t>Deep Learning (LSTM)</a:t>
            </a:r>
            <a:r>
              <a:rPr lang="en-US" sz="2400" dirty="0"/>
              <a:t> for stock  </a:t>
            </a:r>
          </a:p>
          <a:p>
            <a:pPr marL="0" indent="0">
              <a:buNone/>
            </a:pPr>
            <a:r>
              <a:rPr lang="en-US" sz="2400" dirty="0"/>
              <a:t>    prediction                             </a:t>
            </a:r>
          </a:p>
          <a:p>
            <a:pPr marL="0" indent="0">
              <a:buNone/>
            </a:pPr>
            <a:r>
              <a:rPr lang="en-US" sz="2400" dirty="0"/>
              <a:t>. It analyzes </a:t>
            </a:r>
            <a:r>
              <a:rPr lang="en-US" sz="2400" b="1" dirty="0"/>
              <a:t>historical stock data</a:t>
            </a:r>
            <a:r>
              <a:rPr lang="en-US" sz="2400" dirty="0"/>
              <a:t> to forecast future prices. </a:t>
            </a:r>
          </a:p>
          <a:p>
            <a:pPr marL="0" indent="0">
              <a:buNone/>
            </a:pPr>
            <a:r>
              <a:rPr lang="en-US" sz="2400" dirty="0"/>
              <a:t>. Provides </a:t>
            </a:r>
            <a:r>
              <a:rPr lang="en-US" sz="2400" b="1" dirty="0"/>
              <a:t>good prediction accuracy</a:t>
            </a:r>
            <a:r>
              <a:rPr lang="en-US" sz="2400" dirty="0"/>
              <a:t> with reliable performance metrics. </a:t>
            </a:r>
          </a:p>
          <a:p>
            <a:pPr marL="0" indent="0">
              <a:buNone/>
            </a:pPr>
            <a:r>
              <a:rPr lang="en-US" sz="2400" dirty="0"/>
              <a:t>. Integrates </a:t>
            </a:r>
            <a:r>
              <a:rPr lang="en-US" sz="2400" b="1" dirty="0"/>
              <a:t>data collection, preprocessing, and prediction</a:t>
            </a:r>
            <a:r>
              <a:rPr lang="en-US" sz="2400" dirty="0"/>
              <a:t> in one system. </a:t>
            </a:r>
          </a:p>
          <a:p>
            <a:pPr marL="0" indent="0">
              <a:buNone/>
            </a:pPr>
            <a:r>
              <a:rPr lang="en-US" sz="2400" dirty="0"/>
              <a:t>. Offers a </a:t>
            </a:r>
            <a:r>
              <a:rPr lang="en-US" sz="2400" b="1" dirty="0"/>
              <a:t>user-friendly interface</a:t>
            </a:r>
            <a:r>
              <a:rPr lang="en-US" sz="2400" dirty="0"/>
              <a:t> using </a:t>
            </a:r>
            <a:r>
              <a:rPr lang="en-US" sz="2400" dirty="0" err="1"/>
              <a:t>Streamlit</a:t>
            </a:r>
            <a:r>
              <a:rPr lang="en-US" sz="2400" dirty="0"/>
              <a:t> dashboard. </a:t>
            </a:r>
          </a:p>
          <a:p>
            <a:pPr marL="0" indent="0">
              <a:buNone/>
            </a:pPr>
            <a:r>
              <a:rPr lang="en-US" sz="2400" dirty="0"/>
              <a:t>. Includes </a:t>
            </a:r>
            <a:r>
              <a:rPr lang="en-US" sz="2400" b="1" dirty="0"/>
              <a:t>real-time data, technical indicators, and trading signals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/>
              <a:t>. Helps users make </a:t>
            </a:r>
            <a:r>
              <a:rPr lang="en-US" sz="2400" b="1" dirty="0"/>
              <a:t>better and informed investment decisions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/>
              <a:t>. Can be </a:t>
            </a:r>
            <a:r>
              <a:rPr lang="en-US" sz="2400" b="1" dirty="0"/>
              <a:t>further improved</a:t>
            </a:r>
            <a:r>
              <a:rPr lang="en-US" sz="2400" dirty="0"/>
              <a:t> with advanced models and additional features in the future.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680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71BC-8066-E96C-D9C8-E60A93DA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780" y="709127"/>
            <a:ext cx="5086220" cy="730815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FUTURE ENHANCEMENTS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1A3E40A-B276-8593-D1B2-2D920FAFCF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6240" y="1101388"/>
            <a:ext cx="9687560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prediction accuracy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GRU and Transformer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models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techniques (CNN + LSTM)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 and sentiment analysis (NLP)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 market behavior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stock comparison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portfolio management features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tracking investments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advanced indicators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MACD, Bollinger Bands, and volume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system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platforms (AWS, Azure, Google Cloud)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encryption and two-factor authentication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React Native or Flutter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forecasting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(30-day, 90-day predictions)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performance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GPU acceleration and faster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personalization features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watchlists, alerts, and notifications </a:t>
            </a:r>
          </a:p>
        </p:txBody>
      </p:sp>
    </p:spTree>
    <p:extLst>
      <p:ext uri="{BB962C8B-B14F-4D97-AF65-F5344CB8AC3E}">
        <p14:creationId xmlns:p14="http://schemas.microsoft.com/office/powerpoint/2010/main" val="2716118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FC17-B71F-79F7-86C4-FEC59C7DD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2" y="365125"/>
            <a:ext cx="3060441" cy="975995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F654D-1D92-4777-E7EE-C7A562784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567"/>
            <a:ext cx="10515600" cy="4693396"/>
          </a:xfrm>
        </p:spPr>
        <p:txBody>
          <a:bodyPr>
            <a:normAutofit fontScale="47500" lnSpcReduction="20000"/>
          </a:bodyPr>
          <a:lstStyle/>
          <a:p>
            <a:r>
              <a:rPr lang="en-IN" sz="3400" b="1" dirty="0"/>
              <a:t>Brownlee, J. (2017)</a:t>
            </a:r>
            <a:br>
              <a:rPr lang="en-IN" sz="3400" dirty="0"/>
            </a:br>
            <a:r>
              <a:rPr lang="en-IN" sz="3400" i="1" dirty="0"/>
              <a:t>Deep Learning for Time Series Forecasting</a:t>
            </a:r>
            <a:r>
              <a:rPr lang="en-IN" sz="3400" dirty="0"/>
              <a:t>, Machine Learning Mastery </a:t>
            </a:r>
          </a:p>
          <a:p>
            <a:r>
              <a:rPr lang="en-IN" sz="3400" b="1" dirty="0"/>
              <a:t>Hochreiter, S., &amp; </a:t>
            </a:r>
            <a:r>
              <a:rPr lang="en-IN" sz="3400" b="1" dirty="0" err="1"/>
              <a:t>Schmidhuber</a:t>
            </a:r>
            <a:r>
              <a:rPr lang="en-IN" sz="3400" b="1" dirty="0"/>
              <a:t>, J. (1997)</a:t>
            </a:r>
            <a:br>
              <a:rPr lang="en-IN" sz="3400" dirty="0"/>
            </a:br>
            <a:r>
              <a:rPr lang="en-IN" sz="3400" i="1" dirty="0"/>
              <a:t>Long Short-Term Memory</a:t>
            </a:r>
            <a:r>
              <a:rPr lang="en-IN" sz="3400" dirty="0"/>
              <a:t>, Neural Computation Journal, 9(8), 1735–1780 </a:t>
            </a:r>
          </a:p>
          <a:p>
            <a:r>
              <a:rPr lang="en-IN" sz="3400" b="1" dirty="0"/>
              <a:t>Pedregosa, F., et al. (2011)</a:t>
            </a:r>
            <a:br>
              <a:rPr lang="en-IN" sz="3400" dirty="0"/>
            </a:br>
            <a:r>
              <a:rPr lang="en-IN" sz="3400" i="1" dirty="0"/>
              <a:t>Scikit-learn: Machine Learning in Python</a:t>
            </a:r>
            <a:r>
              <a:rPr lang="en-IN" sz="3400" dirty="0"/>
              <a:t>, Journal of Machine Learning Research, 12, 2825–2830 </a:t>
            </a:r>
          </a:p>
          <a:p>
            <a:r>
              <a:rPr lang="en-IN" sz="3400" b="1" dirty="0"/>
              <a:t>TensorFlow Documentation</a:t>
            </a:r>
            <a:br>
              <a:rPr lang="en-IN" sz="3400" dirty="0"/>
            </a:br>
            <a:r>
              <a:rPr lang="en-IN" sz="3400" dirty="0">
                <a:hlinkClick r:id="rId2"/>
              </a:rPr>
              <a:t>https://www.tensorflow.org/</a:t>
            </a:r>
            <a:r>
              <a:rPr lang="en-IN" sz="3400" dirty="0"/>
              <a:t> </a:t>
            </a:r>
          </a:p>
          <a:p>
            <a:r>
              <a:rPr lang="en-IN" sz="3400" b="1" dirty="0" err="1"/>
              <a:t>Keras</a:t>
            </a:r>
            <a:r>
              <a:rPr lang="en-IN" sz="3400" b="1" dirty="0"/>
              <a:t> Documentation</a:t>
            </a:r>
            <a:br>
              <a:rPr lang="en-IN" sz="3400" dirty="0"/>
            </a:br>
            <a:r>
              <a:rPr lang="en-IN" sz="3400" dirty="0">
                <a:hlinkClick r:id="rId3"/>
              </a:rPr>
              <a:t>https://keras.io/</a:t>
            </a:r>
            <a:r>
              <a:rPr lang="en-IN" sz="3400" dirty="0"/>
              <a:t> </a:t>
            </a:r>
          </a:p>
          <a:p>
            <a:r>
              <a:rPr lang="en-IN" sz="3400" b="1" dirty="0" err="1"/>
              <a:t>Streamlit</a:t>
            </a:r>
            <a:r>
              <a:rPr lang="en-IN" sz="3400" b="1" dirty="0"/>
              <a:t> Documentation</a:t>
            </a:r>
            <a:br>
              <a:rPr lang="en-IN" sz="3400" dirty="0"/>
            </a:br>
            <a:r>
              <a:rPr lang="en-IN" sz="3400" dirty="0">
                <a:hlinkClick r:id="rId4"/>
              </a:rPr>
              <a:t>https://docs.streamlit.io/</a:t>
            </a:r>
            <a:r>
              <a:rPr lang="en-IN" sz="3400" dirty="0"/>
              <a:t> </a:t>
            </a:r>
          </a:p>
          <a:p>
            <a:r>
              <a:rPr lang="en-IN" sz="3400" b="1" dirty="0"/>
              <a:t>Yahoo Finance API (</a:t>
            </a:r>
            <a:r>
              <a:rPr lang="en-IN" sz="3400" b="1" dirty="0" err="1"/>
              <a:t>yFinance</a:t>
            </a:r>
            <a:r>
              <a:rPr lang="en-IN" sz="3400" b="1" dirty="0"/>
              <a:t>)</a:t>
            </a:r>
            <a:br>
              <a:rPr lang="en-IN" sz="3400" dirty="0"/>
            </a:br>
            <a:r>
              <a:rPr lang="en-IN" sz="3400" dirty="0">
                <a:hlinkClick r:id="rId5"/>
              </a:rPr>
              <a:t>https://pypi.org/project/yfinance/</a:t>
            </a:r>
            <a:r>
              <a:rPr lang="en-IN" sz="3400" dirty="0"/>
              <a:t> </a:t>
            </a:r>
          </a:p>
          <a:p>
            <a:r>
              <a:rPr lang="en-IN" sz="3400" b="1" dirty="0"/>
              <a:t>Plotly Python Library</a:t>
            </a:r>
            <a:br>
              <a:rPr lang="en-IN" sz="3400" dirty="0"/>
            </a:br>
            <a:r>
              <a:rPr lang="en-IN" sz="3400" dirty="0">
                <a:hlinkClick r:id="rId6"/>
              </a:rPr>
              <a:t>https://plotly.com/python/</a:t>
            </a:r>
            <a:r>
              <a:rPr lang="en-IN" sz="3400" dirty="0"/>
              <a:t> </a:t>
            </a:r>
          </a:p>
          <a:p>
            <a:r>
              <a:rPr lang="en-IN" sz="3400" b="1" dirty="0"/>
              <a:t>Pandas Documentation</a:t>
            </a:r>
            <a:br>
              <a:rPr lang="en-IN" sz="3400" dirty="0"/>
            </a:br>
            <a:r>
              <a:rPr lang="en-IN" sz="3400" dirty="0">
                <a:hlinkClick r:id="rId7"/>
              </a:rPr>
              <a:t>https://pandas.pydata.org/docs/</a:t>
            </a:r>
            <a:r>
              <a:rPr lang="en-IN" sz="3400" dirty="0"/>
              <a:t> </a:t>
            </a:r>
          </a:p>
          <a:p>
            <a:r>
              <a:rPr lang="en-IN" sz="3400" b="1" dirty="0"/>
              <a:t>NumPy Documentation</a:t>
            </a:r>
            <a:br>
              <a:rPr lang="en-IN" sz="3400" dirty="0"/>
            </a:br>
            <a:r>
              <a:rPr lang="en-IN" sz="3400" dirty="0">
                <a:hlinkClick r:id="rId8"/>
              </a:rPr>
              <a:t>https://numpy.org/doc</a:t>
            </a:r>
            <a:r>
              <a:rPr lang="en-IN" sz="3400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9012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31CA7B-8480-9488-0269-C670D9F10D3B}"/>
              </a:ext>
            </a:extLst>
          </p:cNvPr>
          <p:cNvSpPr txBox="1"/>
          <p:nvPr/>
        </p:nvSpPr>
        <p:spPr>
          <a:xfrm>
            <a:off x="1184988" y="2715208"/>
            <a:ext cx="99184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           </a:t>
            </a:r>
            <a:r>
              <a:rPr lang="en-US" sz="80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THANK YOU…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3793491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04EF13-A45C-4383-5CFC-E3878887686F}"/>
              </a:ext>
            </a:extLst>
          </p:cNvPr>
          <p:cNvSpPr txBox="1"/>
          <p:nvPr/>
        </p:nvSpPr>
        <p:spPr>
          <a:xfrm>
            <a:off x="2761861" y="2323322"/>
            <a:ext cx="67646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i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Queries…?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61687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1781</Words>
  <Application>Microsoft Office PowerPoint</Application>
  <PresentationFormat>Widescreen</PresentationFormat>
  <Paragraphs>231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Broadway</vt:lpstr>
      <vt:lpstr>Office Theme</vt:lpstr>
      <vt:lpstr>PowerPoint Presentation</vt:lpstr>
      <vt:lpstr>AI BASED STOCK MARKET PREDICTION USING A STCOKED LSTM </vt:lpstr>
      <vt:lpstr>ABSTRACT</vt:lpstr>
      <vt:lpstr>EXISTING SYSTEM</vt:lpstr>
      <vt:lpstr>DISADVANTAGES OF EXISTING SYSTEM</vt:lpstr>
      <vt:lpstr>PROPOSED SYSTEM</vt:lpstr>
      <vt:lpstr>ADVANTAGES OF PROPOSED SYSTEM</vt:lpstr>
      <vt:lpstr>SYSTEM ARCHITECTURE</vt:lpstr>
      <vt:lpstr>SOFTWARE REQUIREMENTS</vt:lpstr>
      <vt:lpstr>HARDWARE REQUIREMENTS</vt:lpstr>
      <vt:lpstr>SYSTEM DESIGN</vt:lpstr>
      <vt:lpstr>USE CASE DIAGRAM</vt:lpstr>
      <vt:lpstr>Collaboration Diagram </vt:lpstr>
      <vt:lpstr>System Working</vt:lpstr>
      <vt:lpstr>Sequence Diagram</vt:lpstr>
      <vt:lpstr>Deployment Diagram </vt:lpstr>
      <vt:lpstr>    ALGORITHM</vt:lpstr>
      <vt:lpstr>                SOURCE CODE</vt:lpstr>
      <vt:lpstr> Screenshots </vt:lpstr>
      <vt:lpstr>PowerPoint Presentation</vt:lpstr>
      <vt:lpstr>PowerPoint Presentation</vt:lpstr>
      <vt:lpstr>                                           SIMPLE TESTING</vt:lpstr>
      <vt:lpstr>PowerPoint Presentation</vt:lpstr>
      <vt:lpstr>Manual UI Testing</vt:lpstr>
      <vt:lpstr>          CONCLUSION </vt:lpstr>
      <vt:lpstr>FUTURE ENHANCEMENTS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ANKIREDDY NANDINI</dc:creator>
  <cp:lastModifiedBy>ANKIREDDY NANDINI</cp:lastModifiedBy>
  <cp:revision>8</cp:revision>
  <dcterms:created xsi:type="dcterms:W3CDTF">2026-04-09T02:18:03Z</dcterms:created>
  <dcterms:modified xsi:type="dcterms:W3CDTF">2026-04-13T03:24:58Z</dcterms:modified>
</cp:coreProperties>
</file>